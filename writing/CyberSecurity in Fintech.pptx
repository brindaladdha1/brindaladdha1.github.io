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Roboto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19" Type="http://schemas.openxmlformats.org/officeDocument/2006/relationships/font" Target="fonts/Raleway-italic.fntdata"/><Relationship Id="rId18" Type="http://schemas.openxmlformats.org/officeDocument/2006/relationships/font" Target="fonts/Ralew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9bd65aebbd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9bd65aebbd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9bd65aebbd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9bd65aebb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9bd65aebbd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9bd65aebbd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9bd65aebbd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9bd65aebbd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9bd65aebbd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9bd65aebbd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9bd65aebbd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9bd65aebbd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9bd65aebbd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9bd65aebbd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9bd65aebbd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9bd65aebbd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9bd65aebbd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9bd65aebbd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9bd65aebbd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9bd65aebbd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 in Fintech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729450" y="1394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Capital One Data Breach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The breach was discovered in July 2019.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The personal information of over 100 million customers in the United States and 6 million customers in Canada was compromised.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The breach occurred due to a misconfigured web application firewall.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80 Million Dollars Fined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7775" y="3161142"/>
            <a:ext cx="2901076" cy="16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Raleway"/>
              <a:buChar char="-"/>
            </a:pPr>
            <a:r>
              <a:rPr lang="en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The Transformative Era of Fintech</a:t>
            </a:r>
            <a:endParaRPr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Raleway"/>
              <a:buChar char="-"/>
            </a:pPr>
            <a:r>
              <a:rPr lang="en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Escalating Threat Landscape</a:t>
            </a:r>
            <a:endParaRPr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Raleway"/>
              <a:buChar char="-"/>
            </a:pPr>
            <a:r>
              <a:rPr lang="en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Regulatory Requirements</a:t>
            </a:r>
            <a:endParaRPr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Raleway"/>
              <a:buChar char="-"/>
            </a:pPr>
            <a:r>
              <a:rPr lang="en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Impacts of Cyber Events</a:t>
            </a:r>
            <a:endParaRPr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Raleway"/>
              <a:buChar char="-"/>
            </a:pPr>
            <a:r>
              <a:rPr lang="en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Building Cyber Resilience</a:t>
            </a:r>
            <a:endParaRPr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Raleway"/>
              <a:buChar char="-"/>
            </a:pPr>
            <a:r>
              <a:rPr lang="en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Securing Fintech's Digital Future</a:t>
            </a:r>
            <a:endParaRPr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aleway"/>
              <a:buChar char="-"/>
            </a:pPr>
            <a:r>
              <a:rPr lang="en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AI and Cybersecurity</a:t>
            </a:r>
            <a:endParaRPr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The Transformative Era of Fintech</a:t>
            </a:r>
            <a:endParaRPr sz="2300"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aleway"/>
              <a:buChar char="●"/>
            </a:pPr>
            <a:r>
              <a:rPr lang="en" sz="16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</a:t>
            </a:r>
            <a:r>
              <a:rPr lang="en" sz="16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landscape of the </a:t>
            </a:r>
            <a:r>
              <a:rPr lang="en" sz="16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fintech industry has </a:t>
            </a:r>
            <a:r>
              <a:rPr lang="en" sz="16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started</a:t>
            </a:r>
            <a:r>
              <a:rPr lang="en" sz="16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in a transformative era.</a:t>
            </a:r>
            <a:endParaRPr sz="16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aleway"/>
              <a:buChar char="●"/>
            </a:pPr>
            <a:r>
              <a:rPr lang="en" sz="16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However, this rapid digitization brings forth heightened cybersecurity risks.</a:t>
            </a:r>
            <a:endParaRPr sz="16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aleway"/>
              <a:buChar char="●"/>
            </a:pPr>
            <a:r>
              <a:rPr lang="en" sz="16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Investment Inflows, Changing Consumer Behaviour, Acceleration of Digital transformation, Diversity of Fintech offerings.</a:t>
            </a:r>
            <a:endParaRPr sz="16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Escalating Threat Landscape</a:t>
            </a:r>
            <a:endParaRPr sz="2300"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aleway"/>
              <a:buChar char="●"/>
            </a:pPr>
            <a:r>
              <a:rPr lang="en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Fintech firms face a cyber risk 300 times higher than other sectors, with over 1,800 breaches in 2021.</a:t>
            </a:r>
            <a:endParaRPr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aleway"/>
              <a:buChar char="●"/>
            </a:pPr>
            <a:r>
              <a:rPr lang="en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Attacks are escalating globally, exploiting valuable data.</a:t>
            </a:r>
            <a:endParaRPr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aleway"/>
              <a:buChar char="●"/>
            </a:pPr>
            <a:r>
              <a:rPr lang="en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Ransomware poses a major danger, threatening to encrypt critical systems, and failing to secure data damages reputation.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Roboto"/>
                <a:ea typeface="Roboto"/>
                <a:cs typeface="Roboto"/>
                <a:sym typeface="Roboto"/>
              </a:rPr>
              <a:t>Regulatory Requirements</a:t>
            </a:r>
            <a:endParaRPr sz="2300"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aleway"/>
              <a:buChar char="●"/>
            </a:pPr>
            <a:r>
              <a:rPr lang="en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Fintech companies, must comply with regulations like </a:t>
            </a:r>
            <a:r>
              <a:rPr b="1" lang="en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GLBA, PCI-DSS, and GDPR</a:t>
            </a:r>
            <a:r>
              <a:rPr lang="en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complicating their cybersecurity efforts.</a:t>
            </a:r>
            <a:endParaRPr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aleway"/>
              <a:buChar char="●"/>
            </a:pPr>
            <a:r>
              <a:rPr lang="en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Regulators target cybersecurity, making compliance imperative to avoid penalties and ensure the security of financial data.</a:t>
            </a:r>
            <a:endParaRPr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Impacts of Cyber Events</a:t>
            </a:r>
            <a:endParaRPr sz="2300"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aleway"/>
              <a:buChar char="●"/>
            </a:pPr>
            <a:r>
              <a:rPr lang="en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Successful cyber attacks lead to financial fraud, non-compliance fees, and legal actions</a:t>
            </a:r>
            <a:endParaRPr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aleway"/>
              <a:buChar char="●"/>
            </a:pPr>
            <a:r>
              <a:rPr lang="en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Reputational damage becomes a substantial loss.</a:t>
            </a:r>
            <a:endParaRPr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aleway"/>
              <a:buChar char="●"/>
            </a:pPr>
            <a:r>
              <a:rPr lang="en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Disruption of critical systems emphasizes the need for substantial cybersecurity investment in the fintech sector.</a:t>
            </a:r>
            <a:endParaRPr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Building Cyber Resilience</a:t>
            </a:r>
            <a:endParaRPr sz="2300"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Governance and Culture:</a:t>
            </a:r>
            <a:endParaRPr b="1"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aleway"/>
              <a:buChar char="●"/>
            </a:pPr>
            <a:r>
              <a:rPr lang="en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Establishing clear security policies, frameworks, and risk management programs.</a:t>
            </a:r>
            <a:endParaRPr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aleway"/>
              <a:buChar char="●"/>
            </a:pPr>
            <a:r>
              <a:rPr lang="en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Promoting a cybersecurity culture, emphasizing commitment and providing workforce training.</a:t>
            </a:r>
            <a:endParaRPr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Leveraging Advanced Technologies:</a:t>
            </a:r>
            <a:endParaRPr b="1"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aleway"/>
              <a:buChar char="●"/>
            </a:pPr>
            <a:r>
              <a:rPr lang="en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Implementing AI, machine learning, blockchain, and cloud solutions for enhanced cybersecurity.</a:t>
            </a:r>
            <a:endParaRPr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Building Cyber Resilience (cont'd)</a:t>
            </a:r>
            <a:endParaRPr sz="2300"/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Security Controls and Monitoring:</a:t>
            </a:r>
            <a:endParaRPr b="1"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aleway"/>
              <a:buChar char="●"/>
            </a:pPr>
            <a:r>
              <a:rPr lang="en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Enforcing tight access controls and a zero-trust model.</a:t>
            </a:r>
            <a:endParaRPr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aleway"/>
              <a:buChar char="●"/>
            </a:pPr>
            <a:r>
              <a:rPr lang="en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Continuous monitoring of endpoints, networks, and transactions.</a:t>
            </a:r>
            <a:endParaRPr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aleway"/>
              <a:buChar char="●"/>
            </a:pPr>
            <a:r>
              <a:rPr lang="en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Regular penetration testing and cyber incident response plans.</a:t>
            </a:r>
            <a:endParaRPr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Third-Party and Supply Chain Risk Management:</a:t>
            </a:r>
            <a:endParaRPr b="1"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aleway"/>
              <a:buChar char="●"/>
            </a:pPr>
            <a:r>
              <a:rPr lang="en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Vigilant approach to auditing vendors and partners for cyber risks.</a:t>
            </a:r>
            <a:endParaRPr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aleway"/>
              <a:buChar char="●"/>
            </a:pPr>
            <a:r>
              <a:rPr lang="en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Integrating security requirements into contracts and maintaining contingency plans.</a:t>
            </a:r>
            <a:endParaRPr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Securing Fintech's Digital Future</a:t>
            </a:r>
            <a:endParaRPr sz="2300"/>
          </a:p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aleway"/>
              <a:buChar char="●"/>
            </a:pPr>
            <a:r>
              <a:rPr lang="en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As financial services digitize, cyber risks to fintech companies will continue rising.</a:t>
            </a:r>
            <a:endParaRPr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aleway"/>
              <a:buChar char="●"/>
            </a:pPr>
            <a:r>
              <a:rPr lang="en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Cybersecurity and resilience must be top priorities embedded into organizational cultures and processes.</a:t>
            </a:r>
            <a:endParaRPr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aleway"/>
              <a:buChar char="●"/>
            </a:pPr>
            <a:r>
              <a:rPr lang="en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Ongoing investment in mature cyber programs allows fintechs to balance innovation with rigorous protection, upholding customer trust in the financial system.</a:t>
            </a:r>
            <a:endParaRPr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 and AI</a:t>
            </a:r>
            <a:endParaRPr/>
          </a:p>
        </p:txBody>
      </p:sp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aleway"/>
              <a:buChar char="●"/>
            </a:pPr>
            <a:r>
              <a:rPr lang="en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Intelligent Threat Detection</a:t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</a:pPr>
            <a:r>
              <a:rPr lang="en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Adaptive Authentication and Biometrics</a:t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</a:pPr>
            <a:r>
              <a:rPr lang="en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Predictive Security Analytics</a:t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